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Sentinel-AI, agen due diligence keuangan otonom. Satu kalimat positioning: alat riset &amp; penyaringan risiko — bukan penasihat investasi.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Aritmetika kemustahilan: 900+ emiten x 400 halaman x 4 periode pelaporan berada di luar kapasitas kognitif manusia mana 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masalah konkret dari proposal Bagian 2.1. Persoalannya bukan akses informasi, melainkan kapasitas membaca, menghubungkan, dan memantau secara konsisten.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Garuda Indonesia (2018), Hanson International (2020), 32 kasus terindikasi manipulasi OJK (2022–2026). Kesamaan: indikator risiko sudah tersedia di dokumen publik, namun terlambat teridentifikasi.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tegas: research &amp; screening tool. Tidak pernah mengeluarkan rekomendasi beli/jual/tahan.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Alur: Trigger → Orchestrator → Financial Auditor + Market Intelligence (paralel) → Red Flag Investigator → Synthesizer &amp; Reporter → Executive Report → feedback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 3 adalah inti nilai: setelah menyusun hipotesis, ia secara aktif mencari bukti penyangkal sebelum menyimpulkan.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Pemisahan tegas penalaran (LLM) dan perhitungan (Python sandbox). LLM tidak diizinkan mengeluarkan angka dari ingatannya.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Kemampuan menolak kesimpulan sendiri adalah bukti penalaran paling meyakinkan — pembeda agent dari pencocokan pola.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Konvensional: Cari → Baca → Analisis → Laporan, lalu proses berhenti. Sentinel-AI: Monitor → Deteksi → Verifikasi → Laporan → kembali memantau.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→ API Gateway → Orchestrator (LangGraph) → 4 Agen → Tools &amp; Models → Data Sources. Setiap angka: kutipan bersitasi atau perhitungan Python. Tidak ada jalur ketiga.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MVP: composite risk score, patterns run, flags retained, hypotheses dropped, verified extraction, export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Dampak dari proposal 6.1–6.2. Roadmap: MVP 2026, Continuous Monitoring 2027, Ecosystem Integration 2028, Predictive Risk Intelligence 2029+ (rencana, bukan kemampuan saat ini).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kembali ke inti masalah, lalu identitas produk. Diakhiri dengan keyakinan, bukan slide terima kasih generik.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0028" y="932688"/>
            <a:ext cx="1691640" cy="1572768"/>
          </a:xfrm>
          <a:prstGeom prst="roundRect">
            <a:avLst>
              <a:gd name="adj" fmla="val 6977"/>
            </a:avLst>
          </a:prstGeom>
          <a:solidFill>
            <a:srgbClr val="F5F2EA"/>
          </a:solidFill>
          <a:ln w="12700">
            <a:solidFill>
              <a:srgbClr val="C6A25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" name="Image 0" descr="logo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1097280"/>
            <a:ext cx="1298448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98064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SENTINEL-AI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367588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 Risiko Sebelum Menjadi Kerugian.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4400" y="437083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400" kern="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FINANCIAL &amp; MARKET DUE DILIGENCE AGENT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59893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LASTDANCE</a:t>
            </a:r>
            <a:pPr algn="ctr" indent="0" marL="0">
              <a:buNone/>
            </a:pPr>
            <a:r>
              <a:rPr lang="en-US" sz="1100" spc="300" kern="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BISA AI NATIONAL AI AGENT CHALLENGE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PARADOKS INFORMASI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INFORMASI TERSEDIA.</a:t>
            </a: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PERHATIAN MANUSIA TIDAK.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00888" y="27432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963+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00888" y="3749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EMITEN TERCATAT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0888" y="4041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Bursa Efek Indonesia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04208" y="27432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20,36 JT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404208" y="3749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PASAR MODAL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04208" y="4041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mayoritas tanpa tim riset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07528" y="27432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300–500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107528" y="3749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07528" y="4041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laporan tahunan emiten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63040" y="4892040"/>
            <a:ext cx="9265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Ratusan ribu halaman dokumen resmi — terbuka dan gratis.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tidak tersedia adalah kapasitas manusia untuk membacanya secara konsisten.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BEI · OJK (2026)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MASALAH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SERING TERSEMBUNYI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TEMPAT YANG PALING JARANG DIBACA.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29992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65960" y="29809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Informasi penting terkubur paling dalam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965960" y="35844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Sinyal risiko tersembunyi di Catatan atas Laporan Keuangan — bagian yang paling jarang dibaca.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2743200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0568" y="29992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80960" y="29809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dan konteks terfragmentasi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80960" y="35844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keuangan historis tidak pernah dipertemukan secara sistematis dengan informasi pasar terkini.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818888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5074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965960" y="5056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mahal dan tidak merata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965960" y="566013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Jasa konsultan berbiaya puluhan hingga ratusan juta rupiah — di luar jangkauan mayoritas pelaku usaha.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4818888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0568" y="5074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680960" y="5056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Emiten kecil tanpa liputan riset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680960" y="566013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Ratusan emiten lapis bawah nyaris tidak diliput analis — justru di sanalah risiko terbesar berada.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BUKTI EMPIRIS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BUKAN HIPOTESIS. POLANYA SUDAH PERNAH TERJADI.</a:t>
            </a:r>
            <a:endParaRPr lang="en-US" sz="2500" dirty="0"/>
          </a:p>
        </p:txBody>
      </p:sp>
      <p:pic>
        <p:nvPicPr>
          <p:cNvPr id="4" name="Image 0" descr="bukti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627632"/>
            <a:ext cx="9692640" cy="4637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SOLUSI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CHATBOT.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SEBUAH AI AGENT YANG BEKERJA SENDIRI.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39572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Sentinel-AI memantau dokumen dan berita, mengidentifikasi pola risiko, memverifikasi bukti, dan menyusun Executive Due Diligence Report — tanpa menunggu instruksi pengguna.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KONVENSIONAL — MENUNGGU DIPERINTAH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76732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EDECE8"/>
          </a:solidFill>
          <a:ln>
            <a:solidFill>
              <a:srgbClr val="EDEC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67712" y="384048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24328" y="376732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EDECE8"/>
          </a:solidFill>
          <a:ln>
            <a:solidFill>
              <a:srgbClr val="EDEC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9080" y="384048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25696" y="376732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EDECE8"/>
          </a:solidFill>
          <a:ln>
            <a:solidFill>
              <a:srgbClr val="EDEC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63056" y="3858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berhenti setelah menjawab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SENTINEL-AI — DIPICU OLEH PERISTIWA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956048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121E3A"/>
          </a:solidFill>
          <a:ln>
            <a:solidFill>
              <a:srgbClr val="121E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502920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41448" y="4956048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121E3A"/>
          </a:solidFill>
          <a:ln>
            <a:solidFill>
              <a:srgbClr val="121E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502920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77056" y="495604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121E3A"/>
          </a:solidFill>
          <a:ln>
            <a:solidFill>
              <a:srgbClr val="121E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04688" y="502920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61304" y="495604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121E3A"/>
          </a:solidFill>
          <a:ln>
            <a:solidFill>
              <a:srgbClr val="121E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77456" y="502920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34072" y="4956048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121E3A"/>
          </a:solidFill>
          <a:ln>
            <a:solidFill>
              <a:srgbClr val="121E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5944" y="502920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495604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6A2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6235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siklus kembali ke pemantauan — tanpa menunggu instruksi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riset &amp; penyaringan risiko — bukan penasihat investasi. Keputusan tetap di tangan manusia.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CARA KERJA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MONITORING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 INVESTIGASI OTONOM.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6060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Dipicu peristiwa, bukan pertanyaan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63040" y="291693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harian, dokumen baru terbit, atau berita relevan — tanpa intervensi manusia.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472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4472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menyusun rencana sendiri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37581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investigasi disesuaikan dengan jenis dokumen dan sektor entitas.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2885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2885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angka &amp; intelijen pasar berjalan paralel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63040" y="45994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Keluaran keduanya diuji silang oleh Red Flag Investigator sebelum dilaporkan.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12978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51297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tidak pernah berhenti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63040" y="5440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monitoring loop berjalan kembali setiap kali informasi baru muncul.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04418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i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“Tidak berhenti pada satu analisis.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b="1" i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berjalan kembali ketika ada informasi baru.”</a:t>
            </a:r>
            <a:endParaRPr lang="en-US" sz="1350" dirty="0"/>
          </a:p>
        </p:txBody>
      </p:sp>
      <p:pic>
        <p:nvPicPr>
          <p:cNvPr id="17" name="Image 0" descr="bagaimanasentbeker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6539" y="365760"/>
            <a:ext cx="4562061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ARSITEKTUR AGEN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AGEN. EMPAT PERAN. SATU INVESTIGASI.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4856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9176" y="21762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9176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19176" y="3749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Ekstraksi metrik keuangan &amp; verifikasi aritmetik deterministik dengan Python.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3504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7824" y="21762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7824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17824" y="3749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Berita, keterbukaan informasi, dan pembobotan kredibilitas sumber.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2152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21E3A"/>
          </a:solidFill>
          <a:ln w="19050">
            <a:solidFill>
              <a:srgbClr val="C6A25A"/>
            </a:solidFill>
            <a:prstDash val="solid"/>
          </a:ln>
          <a:effectLst>
            <a:outerShdw sx="100000" sy="100000" kx="0" ky="0" algn="bl" rotWithShape="0" blurRad="127000" dist="38100" dir="5400000">
              <a:srgbClr val="8A744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6472" y="21762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16472" y="2788920"/>
            <a:ext cx="2057400" cy="310896"/>
          </a:xfrm>
          <a:prstGeom prst="roundRect">
            <a:avLst>
              <a:gd name="adj" fmla="val 11765"/>
            </a:avLst>
          </a:prstGeom>
          <a:solidFill>
            <a:srgbClr val="C6A2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2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 PEMBEDA UTAMA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16472" y="321868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16472" y="40233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Kontradiksi lintas tahun &amp; lintas dokumen; pengujian hipotesis risiko.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0800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5120" y="21762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15120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SYNTHESIZER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REPORTER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415120" y="3749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 berjenjang, skor keyakinan, dan sitasi halaman.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71600" y="53492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“Bukan hanya menemukan pola. Ia mencari bukti yang membantah hipotesisnya sendiri.”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PRINSIP DESAIN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TIDAK BOLEH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PERCAYA PADA DIRINYA SENDIRI.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" y="260604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1B2A50"/>
          </a:solidFill>
          <a:ln w="12700">
            <a:solidFill>
              <a:srgbClr val="31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— PENALARAN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31927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 dan menafsirkan konteks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Memutuskan bagian yang perlu diperiksa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Menyusun hipotesis risiko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23560" y="329184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6812280" y="260604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1B2A50"/>
          </a:solidFill>
          <a:ln w="15875">
            <a:solidFill>
              <a:srgbClr val="C6A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PERHITUNGAN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331927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aritmetik deterministik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Kalkulasi ulang setiap angka turunan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Pemeriksaan konsistensi neraca &amp; subtotal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5230368"/>
            <a:ext cx="9448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“LLM menentukan apa yang perlu diperiksa. Python memastikan angkanya benar.”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57607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angka dalam laporan berasal dari kutipan dokumen bersitasi halaman, atau dari perhitungan deterministik atas angka yang dikutip. Tidak ada jalur ketiga.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SELF-CORRECTION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MENEMUKAN RED FLAG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CUKUP.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121E3A"/>
          </a:solidFill>
          <a:ln>
            <a:solidFill>
              <a:srgbClr val="121E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MENCURIGAKAN DITEMUKAN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642616" y="303580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282696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121E3A"/>
          </a:solidFill>
          <a:ln>
            <a:solidFill>
              <a:srgbClr val="121E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HIPOTESIS RISIKO DISUSUN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42616" y="371246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59352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A2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BUKTI PENYANGKAL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42616" y="43891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63600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>
            <a:solidFill>
              <a:srgbClr val="F1EE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PENJELASAN ALTERNATIF?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3000" y="5102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YA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5102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TIDAK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367528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8545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TURUNKAN KEYAKINAN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spc="1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BUANG HIPOTESIS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5367528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21E3A"/>
          </a:solidFill>
          <a:ln>
            <a:solidFill>
              <a:srgbClr val="121E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spc="100" kern="0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DIPERTAHANKAN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0" y="2606040"/>
            <a:ext cx="5943600" cy="3108960"/>
          </a:xfrm>
          <a:prstGeom prst="roundRect">
            <a:avLst>
              <a:gd name="adj" fmla="val 2353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880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NYATA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3264408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Piutang tumbuh 80%, penjualan hanya tumbuh 12%.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menyimpulkan risiko, agen mencari penjelasan alternatif di catatan laporan — akuisisi anak usaha, atau perubahan termin pembayaran yang dijelaskan manajemen.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penjelasan ditemukan dan memadai, bobot hipotesis diturunkan — oleh agen itu sendiri.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71600" y="6291072"/>
            <a:ext cx="9448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“Sentinel-AI mencoba membantah temuannya sendiri sebelum menyimpulkannya.”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PERBANDINGAN PROSES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DILIGENCE: DARI REAKTIF MENJADI PROAKTIF.</a:t>
            </a:r>
            <a:endParaRPr lang="en-US" sz="2800" dirty="0"/>
          </a:p>
        </p:txBody>
      </p:sp>
      <p:pic>
        <p:nvPicPr>
          <p:cNvPr id="4" name="Image 0" descr="perbandinga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628" y="1691640"/>
            <a:ext cx="8092440" cy="4648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6419088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Hitungan menit — berulang tanpa biaya marginal manusia.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TEKNOLOGI &amp; ARSITEKTUR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BALIK SATU LAPORAN,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ARSITEKTUR YANG BERLAPIS.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1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42416" y="29809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&amp; retry loop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1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Gemini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42416" y="35112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penalaran utama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3803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1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Sandbox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42416" y="4041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deterministik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3342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1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 + pgvector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42416" y="4572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retrieval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1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LlamaParse · PyMuPDF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42416" y="5102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tabel keuangan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5394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1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42416" y="56327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&amp; audit trail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5925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1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Tavily Search API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42416" y="61630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intelijen pasar</a:t>
            </a:r>
            <a:endParaRPr lang="en-US" sz="950" dirty="0"/>
          </a:p>
        </p:txBody>
      </p:sp>
      <p:pic>
        <p:nvPicPr>
          <p:cNvPr id="18" name="Image 0" descr="arsitektu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960120"/>
            <a:ext cx="8183880" cy="508447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794760" y="6172200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lapisan — dari dashboard hingga sumber data: BEI, laporan tahunan, berita &amp; media, dan OJK.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HASIL UNTUK PENGGUNA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SEKADAR RINGKASAN.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INTELLIGENCE.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542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962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803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Trail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94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“Setiap temuan dapat ditelusuri kembali ke halaman dokumen sumber.”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2350008"/>
            <a:ext cx="7909560" cy="4290060"/>
          </a:xfrm>
          <a:prstGeom prst="roundRect">
            <a:avLst>
              <a:gd name="adj" fmla="val 1066"/>
            </a:avLst>
          </a:prstGeom>
          <a:solidFill>
            <a:srgbClr val="1B2A50"/>
          </a:solidFill>
          <a:ln w="15875">
            <a:solidFill>
              <a:srgbClr val="C6A25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0" descr="dashboatdsentinel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395728"/>
            <a:ext cx="7818120" cy="41986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977640" y="663854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Due Diligence Dashboard — skor risiko komposit, 7 pola deteksi, dan status verifikasi ekstraksi.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DAMPAK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EFISIENSI MENUJU INFRASTRUKTUR RISK INTELLIGENCE.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9720" y="1627632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6880" y="17922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</a:t>
            </a:r>
            <a:pPr algn="ctr" indent="0" marL="0">
              <a:buNone/>
            </a:pPr>
            <a:r>
              <a:rPr lang="en-US" sz="15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448" y="21396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puluhan jam → hitungan menit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67432" y="1627632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4592" y="17922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</a:t>
            </a:r>
            <a:pPr algn="ctr" indent="0" marL="0">
              <a:buNone/>
            </a:pPr>
            <a:r>
              <a:rPr lang="en-US" sz="15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77160" y="21396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biaya marginal manusia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35144" y="1627632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2304" y="17922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CAKUPAN </a:t>
            </a:r>
            <a:pPr algn="ctr" indent="0" marL="0">
              <a:buNone/>
            </a:pPr>
            <a:r>
              <a:rPr lang="en-US" sz="15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44872" y="21396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hingga emiten tanpa liputan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02856" y="1627632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0016" y="17922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DINI </a:t>
            </a:r>
            <a:pPr algn="ctr" indent="0" marL="0">
              <a:buNone/>
            </a:pPr>
            <a:r>
              <a:rPr lang="en-US" sz="15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12584" y="21396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sinyal terbaca lebih awal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70568" y="1627632"/>
            <a:ext cx="2121408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7E4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7728" y="179222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</a:t>
            </a:r>
            <a:pPr algn="ctr" indent="0" marL="0">
              <a:buNone/>
            </a:pPr>
            <a:r>
              <a:rPr lang="en-US" sz="1500" b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80296" y="21396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klaim bersitasi</a:t>
            </a:r>
            <a:endParaRPr lang="en-US" sz="950" dirty="0"/>
          </a:p>
        </p:txBody>
      </p:sp>
      <p:pic>
        <p:nvPicPr>
          <p:cNvPr id="19" name="Image 0" descr="roadma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68" y="2971800"/>
            <a:ext cx="10424160" cy="32816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14400" y="641908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2026: </a:t>
            </a:r>
            <a:pPr algn="ctr"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sektor · 15–20 entitas · 7 pola risiko · loop otonom penuh.  </a:t>
            </a:r>
            <a:pPr algn="ctr" indent="0" marL="0">
              <a:buNone/>
            </a:pPr>
            <a:r>
              <a:rPr lang="en-US" sz="1150" b="1" i="1" dirty="0">
                <a:solidFill>
                  <a:srgbClr val="9C7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berikutnya adalah rencana pengembangan — bukan kemampuan saat ini.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MEREKA TIDAK KEKURANGAN DATA.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057400"/>
            <a:ext cx="10362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MEREKA KEKURANGAN</a:t>
            </a:r>
            <a:endParaRPr lang="en-US" sz="3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KAPASITAS UNTUK MEMBACANYA.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24348" y="3794760"/>
            <a:ext cx="1143000" cy="1060704"/>
          </a:xfrm>
          <a:prstGeom prst="roundRect">
            <a:avLst>
              <a:gd name="adj" fmla="val 8621"/>
            </a:avLst>
          </a:prstGeom>
          <a:solidFill>
            <a:srgbClr val="F5F2EA"/>
          </a:solidFill>
          <a:ln w="12700">
            <a:solidFill>
              <a:srgbClr val="C6A25A"/>
            </a:solidFill>
            <a:prstDash val="solid"/>
          </a:ln>
        </p:spPr>
      </p:sp>
      <p:pic>
        <p:nvPicPr>
          <p:cNvPr id="5" name="Image 0" descr="logo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936" y="3904488"/>
            <a:ext cx="877824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02920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C6A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SENTINEL-AI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555955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“Membaca Risiko Sebelum Menjadi Kerugian.”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617220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LASTDANCE  ·  BISA AI NATIONAL AI AGENT CHALLENGE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Sentinel-AI — Pitch Deck NAIC 2026</dc:title>
  <dc:subject>PptxGenJS Presentation</dc:subject>
  <dc:creator>Tim LastDance</dc:creator>
  <cp:lastModifiedBy>Tim LastDance</cp:lastModifiedBy>
  <cp:revision>1</cp:revision>
  <dcterms:created xsi:type="dcterms:W3CDTF">2026-08-08T06:36:50Z</dcterms:created>
  <dcterms:modified xsi:type="dcterms:W3CDTF">2026-08-08T06:36:50Z</dcterms:modified>
</cp:coreProperties>
</file>